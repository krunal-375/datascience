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  <p:sldId id="263" r:id="rId3"/>
    <p:sldId id="264" r:id="rId4"/>
    <p:sldId id="256" r:id="rId5"/>
    <p:sldId id="257" r:id="rId6"/>
    <p:sldId id="258" r:id="rId7"/>
    <p:sldId id="259" r:id="rId8"/>
    <p:sldId id="265" r:id="rId9"/>
    <p:sldId id="266" r:id="rId10"/>
    <p:sldId id="267" r:id="rId11"/>
    <p:sldId id="269" r:id="rId12"/>
    <p:sldId id="268" r:id="rId13"/>
    <p:sldId id="271" r:id="rId14"/>
    <p:sldId id="272" r:id="rId15"/>
    <p:sldId id="273" r:id="rId16"/>
    <p:sldId id="275" r:id="rId17"/>
    <p:sldId id="274" r:id="rId18"/>
    <p:sldId id="276" r:id="rId19"/>
    <p:sldId id="277" r:id="rId20"/>
    <p:sldId id="278" r:id="rId21"/>
    <p:sldId id="279" r:id="rId22"/>
    <p:sldId id="280" r:id="rId23"/>
    <p:sldId id="283" r:id="rId24"/>
    <p:sldId id="284" r:id="rId25"/>
    <p:sldId id="285" r:id="rId26"/>
    <p:sldId id="281" r:id="rId27"/>
    <p:sldId id="282" r:id="rId28"/>
    <p:sldId id="261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Distribution in Statistics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 overview of types, meaning, and importance</a:t>
            </a:r>
          </a:p>
        </p:txBody>
      </p:sp>
    </p:spTree>
    <p:extLst>
      <p:ext uri="{BB962C8B-B14F-4D97-AF65-F5344CB8AC3E}">
        <p14:creationId xmlns:p14="http://schemas.microsoft.com/office/powerpoint/2010/main" val="3155570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Distribution?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Distribution shows how values are spread or arranged.</a:t>
            </a:r>
          </a:p>
          <a:p>
            <a:pPr marL="0" indent="0">
              <a:buNone/>
            </a:pPr>
            <a:r>
              <a:rPr dirty="0"/>
              <a:t>• It can be in terms of frequency or probability.</a:t>
            </a:r>
          </a:p>
          <a:p>
            <a:pPr marL="0" indent="0">
              <a:buNone/>
            </a:pPr>
            <a:r>
              <a:rPr dirty="0"/>
              <a:t>• Helps us understand the behavior of data.</a:t>
            </a:r>
          </a:p>
        </p:txBody>
      </p:sp>
    </p:spTree>
    <p:extLst>
      <p:ext uri="{BB962C8B-B14F-4D97-AF65-F5344CB8AC3E}">
        <p14:creationId xmlns:p14="http://schemas.microsoft.com/office/powerpoint/2010/main" val="3923607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dirty="0"/>
              <a:t>• Data Distribution: Spread of actual data points.</a:t>
            </a:r>
          </a:p>
          <a:p>
            <a:pPr marL="0" indent="0" algn="just">
              <a:buNone/>
            </a:pPr>
            <a:r>
              <a:rPr dirty="0" smtClean="0"/>
              <a:t>•</a:t>
            </a:r>
            <a:r>
              <a:rPr lang="en-US" dirty="0" smtClean="0"/>
              <a:t> </a:t>
            </a:r>
            <a:r>
              <a:rPr dirty="0" smtClean="0"/>
              <a:t>Probability </a:t>
            </a:r>
            <a:r>
              <a:rPr dirty="0"/>
              <a:t>Distribution: Likelihood of outcomes.</a:t>
            </a:r>
          </a:p>
          <a:p>
            <a:pPr marL="0" indent="0" algn="just">
              <a:buNone/>
            </a:pPr>
            <a:r>
              <a:rPr dirty="0"/>
              <a:t>• Frequency Distribution: How often each value appears.</a:t>
            </a:r>
          </a:p>
        </p:txBody>
      </p:sp>
    </p:spTree>
    <p:extLst>
      <p:ext uri="{BB962C8B-B14F-4D97-AF65-F5344CB8AC3E}">
        <p14:creationId xmlns:p14="http://schemas.microsoft.com/office/powerpoint/2010/main" val="3528058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14984" y="978281"/>
            <a:ext cx="7772400" cy="1470025"/>
          </a:xfrm>
        </p:spPr>
        <p:txBody>
          <a:bodyPr/>
          <a:lstStyle/>
          <a:p>
            <a:r>
              <a:rPr dirty="0"/>
              <a:t>Probability Distribution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96896"/>
            <a:ext cx="6885432" cy="1752600"/>
          </a:xfrm>
        </p:spPr>
        <p:txBody>
          <a:bodyPr/>
          <a:lstStyle/>
          <a:p>
            <a:r>
              <a:rPr dirty="0"/>
              <a:t>Understanding the concept and its types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Probability Distribution?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dirty="0"/>
              <a:t>• A probability distribution describes how the values of a random variable are distributed.</a:t>
            </a:r>
          </a:p>
          <a:p>
            <a:pPr marL="0" indent="0" algn="just">
              <a:buNone/>
            </a:pPr>
            <a:r>
              <a:rPr dirty="0"/>
              <a:t>• It shows the probability of each possible outcome.</a:t>
            </a:r>
          </a:p>
          <a:p>
            <a:pPr marL="0" indent="0" algn="just">
              <a:buNone/>
            </a:pPr>
            <a:r>
              <a:rPr dirty="0"/>
              <a:t>• It can be either discrete or continuous.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Types of Probability Distributions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Discrete Probability Distribution</a:t>
            </a:r>
          </a:p>
          <a:p>
            <a:r>
              <a:t>  - Values are countable (e.g., number of heads in coin tosses).</a:t>
            </a:r>
          </a:p>
          <a:p>
            <a:r>
              <a:t>• Continuous Probability Distribution</a:t>
            </a:r>
          </a:p>
          <a:p>
            <a:r>
              <a:t>  - Values are uncountable and lie on a continuum (e.g., height, weight).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7679296"/>
              </p:ext>
            </p:extLst>
          </p:nvPr>
        </p:nvGraphicFramePr>
        <p:xfrm>
          <a:off x="301752" y="1522317"/>
          <a:ext cx="8229600" cy="28346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Binomial Distribution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Models number of successes in n independent trials (success/failure)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Tossing a coin 10 times: What is the probability of getting 6 heads?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Poisson Distribution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Models number of times an event happens in a fixed interval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Number of emails received per hour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Geometric Distribution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Probability of first success on the k-th trial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How many coin flips until the first </a:t>
                      </a:r>
                      <a:r>
                        <a:rPr lang="en-US" dirty="0" smtClean="0"/>
                        <a:t>head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457200" y="398970"/>
            <a:ext cx="8100294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Discrete Probability Distributions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distributions are used when the outcomes are 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countable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(finite or infinite, but countable).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583021"/>
          <a:ext cx="8229600" cy="25603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Normal Distribution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Bell-shaped, symmetric around the mean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Heights of people in a population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Exponential Distribution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Time between independent events in a Poisson process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Time until next earthquake in a region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Uniform Distribution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All outcomes equally likely over a range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Random number generator between 1 and 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2247901" y="546854"/>
            <a:ext cx="38801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2. </a:t>
            </a:r>
            <a:r>
              <a:rPr lang="en-IN" b="1" dirty="0"/>
              <a:t>Continuous Probability Distributions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6554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84048" y="321855"/>
            <a:ext cx="839419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Binomial Distribution Formula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algn="just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binomial distribution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to model the number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 fixed number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trials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 each trial has only two outcomes: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failure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(like tossing a coin).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1586" y="1799183"/>
            <a:ext cx="4452184" cy="81019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724912"/>
            <a:ext cx="8147304" cy="3895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813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38328" y="311307"/>
            <a:ext cx="83941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You toss a fair coin 4 times. What is the probability of getting exactly 2 heads.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349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631508"/>
            <a:ext cx="5605271" cy="2742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51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Poisson Distribution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653046"/>
            <a:ext cx="811987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Poisson Distribution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Poisson distribution is used to model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events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occurring in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interval of time or space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Events occur independently.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average rate (λ = lambda) is known.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events cannot occur at the exact same instant.</a:t>
            </a:r>
          </a:p>
        </p:txBody>
      </p:sp>
    </p:spTree>
    <p:extLst>
      <p:ext uri="{BB962C8B-B14F-4D97-AF65-F5344CB8AC3E}">
        <p14:creationId xmlns:p14="http://schemas.microsoft.com/office/powerpoint/2010/main" val="434656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7425" y="621792"/>
            <a:ext cx="7321678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186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" y="704406"/>
            <a:ext cx="8229600" cy="1143000"/>
          </a:xfrm>
        </p:spPr>
        <p:txBody>
          <a:bodyPr>
            <a:noAutofit/>
          </a:bodyPr>
          <a:lstStyle/>
          <a:p>
            <a:pPr algn="just"/>
            <a:r>
              <a:rPr lang="en-US" sz="2400" dirty="0"/>
              <a:t>Suppose a call center receives </a:t>
            </a:r>
            <a:r>
              <a:rPr lang="en-US" sz="2400" b="1" dirty="0"/>
              <a:t>on average 4 calls per minute</a:t>
            </a:r>
            <a:r>
              <a:rPr lang="en-US" sz="2400" dirty="0"/>
              <a:t>.</a:t>
            </a:r>
            <a:br>
              <a:rPr lang="en-US" sz="2400" dirty="0"/>
            </a:br>
            <a:r>
              <a:rPr lang="en-US" sz="2400" dirty="0"/>
              <a:t>What is the probability that in a given minute, they receive </a:t>
            </a:r>
            <a:r>
              <a:rPr lang="en-US" sz="2400" b="1" dirty="0"/>
              <a:t>exactly 2 calls</a:t>
            </a:r>
            <a:r>
              <a:rPr lang="en-US" sz="2400" dirty="0"/>
              <a:t>?</a:t>
            </a:r>
            <a:br>
              <a:rPr lang="en-US" sz="2400" dirty="0"/>
            </a:b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410049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021" y="889444"/>
            <a:ext cx="6991350" cy="330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577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78142"/>
            <a:ext cx="8229600" cy="1143000"/>
          </a:xfrm>
        </p:spPr>
        <p:txBody>
          <a:bodyPr>
            <a:normAutofit fontScale="90000"/>
          </a:bodyPr>
          <a:lstStyle/>
          <a:p>
            <a:pPr algn="just"/>
            <a:r>
              <a:rPr lang="en-US" sz="2200" b="1" dirty="0"/>
              <a:t>What is Geometric Distribution?</a:t>
            </a:r>
            <a:br>
              <a:rPr lang="en-US" sz="2200" b="1" dirty="0"/>
            </a:br>
            <a:r>
              <a:rPr lang="en-US" sz="2200" dirty="0"/>
              <a:t>Geometric distribution models the </a:t>
            </a:r>
            <a:r>
              <a:rPr lang="en-US" sz="2200" b="1" dirty="0"/>
              <a:t>number of trials</a:t>
            </a:r>
            <a:r>
              <a:rPr lang="en-US" sz="2200" dirty="0"/>
              <a:t> needed to get the </a:t>
            </a:r>
            <a:r>
              <a:rPr lang="en-US" sz="2200" b="1" dirty="0"/>
              <a:t>first success</a:t>
            </a:r>
            <a:r>
              <a:rPr lang="en-US" sz="2200" dirty="0"/>
              <a:t> in repeated </a:t>
            </a:r>
            <a:r>
              <a:rPr lang="en-US" sz="2200" b="1" dirty="0"/>
              <a:t>independent</a:t>
            </a:r>
            <a:r>
              <a:rPr lang="en-US" sz="2200" dirty="0"/>
              <a:t> Bernoulli trials (success/failure), where the </a:t>
            </a:r>
            <a:r>
              <a:rPr lang="en-US" sz="2200" b="1" dirty="0"/>
              <a:t>probability of success</a:t>
            </a:r>
            <a:r>
              <a:rPr lang="en-US" sz="2200" dirty="0"/>
              <a:t> remains constant.</a:t>
            </a: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8528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390" y="978726"/>
            <a:ext cx="8229600" cy="1143000"/>
          </a:xfrm>
        </p:spPr>
        <p:txBody>
          <a:bodyPr>
            <a:noAutofit/>
          </a:bodyPr>
          <a:lstStyle/>
          <a:p>
            <a:pPr algn="l"/>
            <a:r>
              <a:rPr lang="en-US" sz="2400" b="1" dirty="0"/>
              <a:t>Geometric </a:t>
            </a:r>
            <a:r>
              <a:rPr lang="en-US" sz="2400" b="1" dirty="0" smtClean="0"/>
              <a:t>Distribution</a:t>
            </a:r>
            <a:r>
              <a:rPr lang="en-US" sz="2400" b="1" dirty="0"/>
              <a:t/>
            </a:r>
            <a:br>
              <a:rPr lang="en-US" sz="2400" b="1" dirty="0"/>
            </a:br>
            <a:r>
              <a:rPr lang="en-US" sz="2400" dirty="0"/>
              <a:t>If the probability of success is </a:t>
            </a:r>
            <a:r>
              <a:rPr lang="en-US" sz="2400" dirty="0" smtClean="0"/>
              <a:t>p, </a:t>
            </a:r>
            <a:r>
              <a:rPr lang="en-US" sz="2400" dirty="0"/>
              <a:t>then the probability that the </a:t>
            </a:r>
            <a:r>
              <a:rPr lang="en-US" sz="2400" b="1" dirty="0"/>
              <a:t>first success</a:t>
            </a:r>
            <a:r>
              <a:rPr lang="en-US" sz="2400" dirty="0"/>
              <a:t> occurs on the </a:t>
            </a:r>
            <a:r>
              <a:rPr lang="en-US" sz="2400" b="1" dirty="0" err="1" smtClean="0"/>
              <a:t>xth</a:t>
            </a:r>
            <a:r>
              <a:rPr lang="en-US" sz="2400" b="1" dirty="0" smtClean="0"/>
              <a:t> </a:t>
            </a:r>
            <a:r>
              <a:rPr lang="en-US" sz="2400" b="1" dirty="0"/>
              <a:t>trial</a:t>
            </a:r>
            <a:r>
              <a:rPr lang="en-US" sz="2400" dirty="0"/>
              <a:t> is:</a:t>
            </a:r>
            <a:br>
              <a:rPr lang="en-US" sz="2400" dirty="0"/>
            </a:br>
            <a:endParaRPr lang="en-IN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958" y="3187384"/>
            <a:ext cx="8136826" cy="2889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430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6072" y="1033590"/>
            <a:ext cx="8229600" cy="1143000"/>
          </a:xfrm>
        </p:spPr>
        <p:txBody>
          <a:bodyPr>
            <a:noAutofit/>
          </a:bodyPr>
          <a:lstStyle/>
          <a:p>
            <a:pPr algn="just"/>
            <a:r>
              <a:rPr lang="en-US" sz="2000" b="1" dirty="0"/>
              <a:t>Real-Life </a:t>
            </a:r>
            <a:r>
              <a:rPr lang="en-US" sz="2000" b="1" dirty="0" smtClean="0"/>
              <a:t>Example</a:t>
            </a:r>
            <a:r>
              <a:rPr lang="en-US" sz="2000" b="1" dirty="0"/>
              <a:t/>
            </a:r>
            <a:br>
              <a:rPr lang="en-US" sz="2000" b="1" dirty="0"/>
            </a:br>
            <a:r>
              <a:rPr lang="en-US" sz="2000" dirty="0"/>
              <a:t>You’re making phone calls, and the chance someone picks up is 0.2.</a:t>
            </a:r>
            <a:br>
              <a:rPr lang="en-US" sz="2000" dirty="0"/>
            </a:br>
            <a:r>
              <a:rPr lang="en-US" sz="2000" dirty="0"/>
              <a:t>The geometric distribution models how many calls you need to make until </a:t>
            </a:r>
            <a:r>
              <a:rPr lang="en-US" sz="2000" dirty="0" smtClean="0"/>
              <a:t>someone</a:t>
            </a:r>
            <a:r>
              <a:rPr lang="en-US" sz="2000" dirty="0"/>
              <a:t/>
            </a:r>
            <a:br>
              <a:rPr lang="en-US" sz="2000" dirty="0"/>
            </a:br>
            <a:endParaRPr lang="en-IN" sz="2000" dirty="0"/>
          </a:p>
        </p:txBody>
      </p:sp>
      <p:sp>
        <p:nvSpPr>
          <p:cNvPr id="4" name="Rectangle 1"/>
          <p:cNvSpPr txBox="1">
            <a:spLocks noChangeArrowheads="1"/>
          </p:cNvSpPr>
          <p:nvPr/>
        </p:nvSpPr>
        <p:spPr bwMode="auto">
          <a:xfrm>
            <a:off x="2131517" y="2486675"/>
            <a:ext cx="511870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 eaLnBrk="0" fontAlgn="base" hangingPunct="0">
              <a:spcAft>
                <a:spcPct val="0"/>
              </a:spcAft>
              <a:buFontTx/>
              <a:buChar char="•"/>
            </a:pPr>
            <a:r>
              <a:rPr lang="en-US" sz="1800" dirty="0" smtClean="0">
                <a:latin typeface="Arial" panose="020B0604020202020204" pitchFamily="34" charset="0"/>
              </a:rPr>
              <a:t>You are tossing a </a:t>
            </a:r>
            <a:r>
              <a:rPr lang="en-US" sz="1800" b="1" dirty="0" smtClean="0">
                <a:latin typeface="Arial" panose="020B0604020202020204" pitchFamily="34" charset="0"/>
              </a:rPr>
              <a:t>biased coin</a:t>
            </a:r>
            <a:endParaRPr lang="en-US" sz="1800" dirty="0" smtClean="0">
              <a:latin typeface="Arial" panose="020B0604020202020204" pitchFamily="34" charset="0"/>
            </a:endParaRPr>
          </a:p>
          <a:p>
            <a:pPr algn="l" defTabSz="914400" eaLnBrk="0" fontAlgn="base" hangingPunct="0">
              <a:spcAft>
                <a:spcPct val="0"/>
              </a:spcAft>
              <a:buFontTx/>
              <a:buChar char="•"/>
            </a:pPr>
            <a:r>
              <a:rPr lang="en-US" sz="1800" dirty="0" smtClean="0">
                <a:latin typeface="Arial" panose="020B0604020202020204" pitchFamily="34" charset="0"/>
              </a:rPr>
              <a:t>Probability of getting </a:t>
            </a:r>
            <a:r>
              <a:rPr lang="en-US" sz="1800" b="1" dirty="0" smtClean="0">
                <a:latin typeface="Arial" panose="020B0604020202020204" pitchFamily="34" charset="0"/>
              </a:rPr>
              <a:t>Heads (success)</a:t>
            </a:r>
            <a:r>
              <a:rPr lang="en-US" sz="1800" dirty="0" smtClean="0">
                <a:latin typeface="Arial" panose="020B0604020202020204" pitchFamily="34" charset="0"/>
              </a:rPr>
              <a:t> is p=0.3</a:t>
            </a:r>
          </a:p>
        </p:txBody>
      </p:sp>
    </p:spTree>
    <p:extLst>
      <p:ext uri="{BB962C8B-B14F-4D97-AF65-F5344CB8AC3E}">
        <p14:creationId xmlns:p14="http://schemas.microsoft.com/office/powerpoint/2010/main" val="3695044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515683"/>
            <a:ext cx="7111936" cy="141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505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Normal Distribution?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Distribution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continuous, bell-shaped distribution that models many real-world phenomena like: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Heights of people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 scores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Measurement errors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symmetric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around the mean (average), and is defined by: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 (mu)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mean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 (sigma)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standard deviation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9145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19722"/>
          </a:xfrm>
        </p:spPr>
        <p:txBody>
          <a:bodyPr>
            <a:noAutofit/>
          </a:bodyPr>
          <a:lstStyle/>
          <a:p>
            <a:r>
              <a:rPr lang="en-US" sz="2000" dirty="0"/>
              <a:t>We usually use the </a:t>
            </a:r>
            <a:r>
              <a:rPr lang="en-US" sz="2000" b="1" dirty="0"/>
              <a:t>Z-score formula</a:t>
            </a:r>
            <a:r>
              <a:rPr lang="en-US" sz="2000" dirty="0"/>
              <a:t> to work with Normal Distribution:</a:t>
            </a:r>
            <a:endParaRPr lang="en-IN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624" y="925348"/>
            <a:ext cx="6581775" cy="238544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96696" y="3868573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Numerical Example:</a:t>
            </a:r>
          </a:p>
          <a:p>
            <a:r>
              <a:rPr lang="en-US" dirty="0"/>
              <a:t>Let’s say: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average score (μ) on a math test is </a:t>
            </a:r>
            <a:r>
              <a:rPr lang="en-US" b="1" dirty="0"/>
              <a:t>70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standard deviation (σ) is </a:t>
            </a:r>
            <a:r>
              <a:rPr lang="en-US" b="1" dirty="0"/>
              <a:t>10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You want to find the probability that a student scores </a:t>
            </a:r>
            <a:r>
              <a:rPr lang="en-US" b="1" dirty="0"/>
              <a:t>less than 85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074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81744" y="274638"/>
            <a:ext cx="8229600" cy="4525963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906" y="474403"/>
            <a:ext cx="5743575" cy="10572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2195" y="1784286"/>
            <a:ext cx="5229225" cy="11620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536" y="3650115"/>
            <a:ext cx="5105400" cy="73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324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Normal Distribution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Natural and Biological Sciences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characteristics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like height, weight, blood pressure, and IQ scores follow a normal distribution.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Measurement errors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physical experiments tend to be normally distributed due to random fluctuations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Business and Finance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market returns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Daily changes in stock prices often approximate a normal distribution over short periods.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management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Value-at-Risk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models assume normal distribution to estimate potential losses.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control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Normal distribution is used in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Six Sigma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control charts to monitor manufacturing defects and variation.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6420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Social Sciences and Psychology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testing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SAT, GRE, and IQ scores are normalized so they have a mean of 100 and a standard deviation of 15 (or another value).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Behavioral traits and surveys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often assume normal distribution for inferential analysis.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Engineering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processing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noise modeling often use the normal distribution to model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thermal noise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electrical circuits.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 analysis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Lifetimes of components under specific conditions can sometimes follow a normal distribution.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Normal Distribution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333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Machine Learning and Data Science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scaling and normalization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Some algorithms assume data is normally distributed (e.g., Linear Discriminant Analysis, Gaussian Naive Bayes).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Assumptions in regression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Linear regression assumes normally distributed residuals (errors).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Bayesian methods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Gaussian priors are often used in probabilistic modeling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Education and Grading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Grading on a curve (bell curve) assumes students’ performance follows a normal distribution, helping assign grades like A, B, C based on percentile ranks.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Normal Distribution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26501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Exponential Distribution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76072" y="1120676"/>
            <a:ext cx="84582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Exponential Distribution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models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between events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Poisson process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when events happen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and independently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a constant average rate.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used to model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waiting times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arrivals at a counter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Calls in a call center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Failures of machines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787" y="2810994"/>
            <a:ext cx="6448425" cy="3754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442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25" y="1038225"/>
            <a:ext cx="8515350" cy="478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575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Probability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Forms the foundation of statistical inference.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Helps model uncertainty and randomness.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Guides decision making in business, finance, science, etc.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875</TotalTime>
  <Words>936</Words>
  <Application>Microsoft Office PowerPoint</Application>
  <PresentationFormat>On-screen Show (4:3)</PresentationFormat>
  <Paragraphs>114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Times New Roman</vt:lpstr>
      <vt:lpstr>Office Theme</vt:lpstr>
      <vt:lpstr>Distribution in Statistics</vt:lpstr>
      <vt:lpstr>What is Distribution?</vt:lpstr>
      <vt:lpstr>Key Concepts</vt:lpstr>
      <vt:lpstr>Probability Distribution</vt:lpstr>
      <vt:lpstr>What is Probability Distribution?</vt:lpstr>
      <vt:lpstr>Types of Probability Distributions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Poisson Distribution</vt:lpstr>
      <vt:lpstr>PowerPoint Presentation</vt:lpstr>
      <vt:lpstr>Suppose a call center receives on average 4 calls per minute. What is the probability that in a given minute, they receive exactly 2 calls? </vt:lpstr>
      <vt:lpstr>PowerPoint Presentation</vt:lpstr>
      <vt:lpstr>What is Geometric Distribution? Geometric distribution models the number of trials needed to get the first success in repeated independent Bernoulli trials (success/failure), where the probability of success remains constant. </vt:lpstr>
      <vt:lpstr>Geometric Distribution If the probability of success is p, then the probability that the first success occurs on the xth trial is: </vt:lpstr>
      <vt:lpstr>Real-Life Example You’re making phone calls, and the chance someone picks up is 0.2. The geometric distribution models how many calls you need to make until someone </vt:lpstr>
      <vt:lpstr>PowerPoint Presentation</vt:lpstr>
      <vt:lpstr>What is Normal Distribution?</vt:lpstr>
      <vt:lpstr>We usually use the Z-score formula to work with Normal Distribution:</vt:lpstr>
      <vt:lpstr>PowerPoint Presentation</vt:lpstr>
      <vt:lpstr>Applications of Normal Distribution</vt:lpstr>
      <vt:lpstr>Applications of Normal Distribution</vt:lpstr>
      <vt:lpstr>Applications of Normal Distribution</vt:lpstr>
      <vt:lpstr>Exponential Distribution </vt:lpstr>
      <vt:lpstr>PowerPoint Presentation</vt:lpstr>
      <vt:lpstr>Importance of Probability Distribution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 Distribution</dc:title>
  <dc:subject/>
  <dc:creator>hp</dc:creator>
  <cp:keywords/>
  <dc:description>generated using python-pptx</dc:description>
  <cp:lastModifiedBy>Bhupesh</cp:lastModifiedBy>
  <cp:revision>41</cp:revision>
  <dcterms:created xsi:type="dcterms:W3CDTF">2013-01-27T09:14:16Z</dcterms:created>
  <dcterms:modified xsi:type="dcterms:W3CDTF">2025-07-25T05:09:32Z</dcterms:modified>
  <cp:category/>
</cp:coreProperties>
</file>